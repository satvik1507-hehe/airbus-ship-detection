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  <a:defRPr sz="5000" b="1">
                <a:solidFill>
                  <a:srgbClr val="0B3D6B"/>
                </a:solidFill>
              </a:defRPr>
            </a:pPr>
            <a:r>
              <a:t>Airbus Ship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  <a:defRPr sz="2600" b="0">
                <a:solidFill>
                  <a:srgbClr val="444444"/>
                </a:solidFill>
              </a:defRPr>
            </a:pPr>
            <a:r>
              <a:t>Traditional Machine Learning vs. Convolutional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UE24CS352A – Machine Learning  |  Mini-Project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Team 9  |  Project No. 35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Rohan Suresh (PES1UG24CS383)  ·  Satvik L (PES1UG24CS423)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Reference: Chen, Zheng, Zhou – Stanford CS229 project,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Given a satellite image, decide: does it contain at least one ship?  (binary classification)</a:t>
            </a:r>
          </a:p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Why: maritime monitoring – illegal fishing, piracy, accident response, traffic management</a:t>
            </a:r>
          </a:p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Why it is hard: ships are tiny, scenes vary (open sea, docks, clouds, haze, wakes)</a:t>
            </a:r>
          </a:p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Question we answer: do hand-engineered features + classical models compete with CNNs that learn features from pixels?</a:t>
            </a:r>
          </a:p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We reproduce the Stanford CS229 study on a laptop-sized subset of the same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Kaggle Airbus Ship Detection Challenge: 192,555 images, 768×768 RGB, 31 GB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Labels: CSV of run-length-encoded ship masks; no mask = no ship (22% have a ship)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Our subset: 3,829 images (≈0.6 GB download), labels from the official CSV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Ship-enriched: 67.2% ship / 32.8% no ship → baseline accuracy 67.2%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Resized to 256×256; stratified 7:3:5 split → 1,786 train / 766 dev / 1,277 test</a:t>
            </a:r>
          </a:p>
        </p:txBody>
      </p:sp>
      <p:pic>
        <p:nvPicPr>
          <p:cNvPr id="6" name="Picture 5" descr="sample_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63040"/>
            <a:ext cx="4663440" cy="1943100"/>
          </a:xfrm>
          <a:prstGeom prst="rect">
            <a:avLst/>
          </a:prstGeom>
        </p:spPr>
      </p:pic>
      <p:pic>
        <p:nvPicPr>
          <p:cNvPr id="7" name="Picture 6" descr="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657600"/>
            <a:ext cx="36830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download_data  →  subset, resize to 256×256, labels, train/dev/test split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features  →  colour histogram, Haralick texture, Hu moments, raw pixels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train_traditional  →  LDA, KNN, Naive Bayes, Random Forest, SVM × 8 feature sets + 10-fold CV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train_cnn  →  TL-CNN (frozen DenseNet-169) and SIM-CNN (from scratch)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evaluate_cnn  →  threshold scan on dev, test metrics, confusion matrices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demo  →  live prediction on unseen images with all three best models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One command runs everything: python run_all.py   (settings in config.py, seeds fixed)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Feature engineering (traditional models)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His – colour histogram in HSV, 8×8×8 bins = 512 values  →  colour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Ha – 13 Haralick statistics of the grey-level co-occurrence matrix  →  texture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Hu – 7 Hu moments of the grey image  →  shape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Raw – image shrunk to 32×32×3 and flattened = 3,072 values  →  'no feature engineering'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All are global descriptors: one vector describes the whole image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Standardised (zero mean, unit variance) with training-set statistics</a:t>
            </a:r>
          </a:p>
        </p:txBody>
      </p:sp>
      <p:pic>
        <p:nvPicPr>
          <p:cNvPr id="6" name="Picture 5" descr="featur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11680"/>
            <a:ext cx="45720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Five traditional classifiers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LDA – Gaussian classes with a shared covariance → linear decision boundary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k-NN (k = 5) – majority vote of the 5 closest training images (Euclidean distance)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Naive Bayes – Bayes' rule assuming features are independent given the class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Random Forest – 70 decision trees on bootstrap samples and random feature subsets, majority vote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SVM (RBF kernel) – maximum-margin boundary in a non-linear feature space</a:t>
            </a:r>
          </a:p>
          <a:p>
            <a:pPr>
              <a:spcAft>
                <a:spcPts val="855"/>
              </a:spcAft>
              <a:defRPr sz="1900" b="0">
                <a:solidFill>
                  <a:srgbClr val="444444"/>
                </a:solidFill>
              </a:defRPr>
            </a:pPr>
            <a:r>
              <a:t>•  Each trained on 8 feature combinations = 40 experiments, plus 10-fold cross-validation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Results – traditional models (test accuracy)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  <a:gridCol w="1229360"/>
              </a:tblGrid>
              <a:tr h="3962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His+Ha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Ha+Hu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Hu+His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All three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Raw pixels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0.537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0.735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0.625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0.919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0.822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0.808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2336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5"/>
              </a:spcAft>
              <a:defRPr sz="1700" b="0">
                <a:solidFill>
                  <a:srgbClr val="444444"/>
                </a:solidFill>
              </a:defRPr>
            </a:pPr>
            <a:r>
              <a:t>•  Random Forest is best: 91.9% with all features (paper: 93%)</a:t>
            </a:r>
          </a:p>
          <a:p>
            <a:pPr>
              <a:spcAft>
                <a:spcPts val="765"/>
              </a:spcAft>
              <a:defRPr sz="1700" b="0">
                <a:solidFill>
                  <a:srgbClr val="444444"/>
                </a:solidFill>
              </a:defRPr>
            </a:pPr>
            <a:r>
              <a:t>•  Feature engineering vs raw pixels: LDA +32, KNN +10, NB -9, RF +10, SVM +4 points</a:t>
            </a:r>
          </a:p>
          <a:p>
            <a:pPr>
              <a:spcAft>
                <a:spcPts val="765"/>
              </a:spcAft>
              <a:defRPr sz="1700" b="0">
                <a:solidFill>
                  <a:srgbClr val="444444"/>
                </a:solidFill>
              </a:defRPr>
            </a:pPr>
            <a:r>
              <a:t>•  'More is less': the 512 correlated histogram bins break Naive Bayes's independence assumption</a:t>
            </a:r>
          </a:p>
          <a:p>
            <a:pPr>
              <a:spcAft>
                <a:spcPts val="765"/>
              </a:spcAft>
              <a:defRPr sz="1700" b="0">
                <a:solidFill>
                  <a:srgbClr val="444444"/>
                </a:solidFill>
              </a:defRPr>
            </a:pPr>
            <a:r>
              <a:t>•  Baseline (always 'ship') = 67.2%; NB with all features falls below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10-fold cross-validation (all features)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8</a:t>
            </a:r>
          </a:p>
        </p:txBody>
      </p:sp>
      <p:pic>
        <p:nvPicPr>
          <p:cNvPr id="5" name="Picture 4" descr="cv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1323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LDA: 83.4% ± 2.5%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KNN: 82.9% ± 2.4%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NB: 51.5% ± 2.8%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RF: 92.4% ± 1.7%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SVM: 84.6% ± 2.5%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Random Forest: highest mean and among the smallest spread → most reliable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Two convolutional neural networks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SIM-CNN – trained from scratch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    4 × [3×3 conv → ReLU → 2×2 max-pool], filters 16 / 32 / 64 / 128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    256×256×3 → 16×16×128 → FC(128) → dropout → FC(1) → sigmoid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    4,292,001 trainable parameters; augmentation: flip, rotate, shift, zoom, shear, brightness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TL-CNN – transfer learning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    ImageNet-pretrained DenseNet-169, all weights frozen (feature extractor)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    global max-pool → BatchNorm → dropout → FC(128) → FC(1) → sigmoid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    only the head is trained: 216,577 parameters</a:t>
            </a:r>
          </a:p>
          <a:p>
            <a:pPr>
              <a:spcAft>
                <a:spcPts val="810"/>
              </a:spcAft>
              <a:defRPr sz="1800" b="0">
                <a:solidFill>
                  <a:srgbClr val="444444"/>
                </a:solidFill>
              </a:defRPr>
            </a:pPr>
            <a:r>
              <a:t>•  Both: binary cross-entropy, Adam, batch 64, 30 epochs, LR decay, best-dev-loss checkpoint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CNN training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10</a:t>
            </a:r>
          </a:p>
        </p:txBody>
      </p:sp>
      <p:pic>
        <p:nvPicPr>
          <p:cNvPr id="5" name="Picture 4" descr="cnn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229600" cy="3127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0" y="1371600"/>
            <a:ext cx="2926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5"/>
              </a:spcAft>
              <a:defRPr sz="1500" b="0">
                <a:solidFill>
                  <a:srgbClr val="444444"/>
                </a:solidFill>
              </a:defRPr>
            </a:pPr>
            <a:r>
              <a:t>•  TL-CNN: final train acc 98.9%, best dev acc 96.1%</a:t>
            </a:r>
          </a:p>
          <a:p>
            <a:pPr>
              <a:spcAft>
                <a:spcPts val="675"/>
              </a:spcAft>
              <a:defRPr sz="1500" b="0">
                <a:solidFill>
                  <a:srgbClr val="444444"/>
                </a:solidFill>
              </a:defRPr>
            </a:pPr>
            <a:r>
              <a:t>•  SIM-CNN: final train acc 86.8%, best dev acc 87.9%</a:t>
            </a:r>
          </a:p>
          <a:p>
            <a:pPr>
              <a:spcAft>
                <a:spcPts val="675"/>
              </a:spcAft>
              <a:defRPr sz="1500" b="0">
                <a:solidFill>
                  <a:srgbClr val="444444"/>
                </a:solidFill>
              </a:defRPr>
            </a:pPr>
            <a:r>
              <a:t>•  Solid = train, dashed = dev</a:t>
            </a:r>
          </a:p>
          <a:p>
            <a:pPr>
              <a:spcAft>
                <a:spcPts val="675"/>
              </a:spcAft>
              <a:defRPr sz="1500" b="0">
                <a:solidFill>
                  <a:srgbClr val="444444"/>
                </a:solidFill>
              </a:defRPr>
            </a:pPr>
            <a:r>
              <a:t>•  We keep the weights of the epoch with the lowest dev loss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Threshold scanning and confusion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11</a:t>
            </a:r>
          </a:p>
        </p:txBody>
      </p:sp>
      <p:pic>
        <p:nvPicPr>
          <p:cNvPr id="5" name="Picture 4" descr="threshold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367463" cy="3017520"/>
          </a:xfrm>
          <a:prstGeom prst="rect">
            <a:avLst/>
          </a:prstGeom>
        </p:spPr>
      </p:pic>
      <p:pic>
        <p:nvPicPr>
          <p:cNvPr id="6" name="Picture 5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371600"/>
            <a:ext cx="6749716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600" b="0">
                <a:solidFill>
                  <a:srgbClr val="444444"/>
                </a:solidFill>
              </a:defRPr>
            </a:pPr>
            <a:r>
              <a:t>•  Imbalanced classes → 0.5 is not automatically the best cut-off; we scan 0.1–0.9 on the dev set</a:t>
            </a:r>
          </a:p>
          <a:p>
            <a:pPr>
              <a:spcAft>
                <a:spcPts val="720"/>
              </a:spcAft>
              <a:defRPr sz="1600" b="0">
                <a:solidFill>
                  <a:srgbClr val="444444"/>
                </a:solidFill>
              </a:defRPr>
            </a:pPr>
            <a:r>
              <a:t>•  TL-CNN @ 0.5: accuracy 95.3%, precision 96.3%, recall 96.7%, specificity 92.4%</a:t>
            </a:r>
          </a:p>
          <a:p>
            <a:pPr>
              <a:spcAft>
                <a:spcPts val="720"/>
              </a:spcAft>
              <a:defRPr sz="1600" b="0">
                <a:solidFill>
                  <a:srgbClr val="444444"/>
                </a:solidFill>
              </a:defRPr>
            </a:pPr>
            <a:r>
              <a:t>•  SIM-CNN @ 0.6: accuracy 88.0%, precision 91.1%, recall 91.0%, specificity 81.9%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All models on the same test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12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77255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0" y="1371600"/>
          <a:ext cx="4114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Recall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LDA (all features)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92.0%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KNN (all features)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91.4%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NB (all features)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33.4%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RF (all features)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94.9%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SVM (all features)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95.5%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TL-CNN (thr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96.7%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SIM-CNN (thr 0.6)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91.0%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Always predict 'Ship'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  <a:defRPr sz="1800" b="1">
                <a:solidFill>
                  <a:srgbClr val="0B3D6B"/>
                </a:solidFill>
              </a:defRPr>
            </a:pPr>
            <a:r>
              <a:t>Best overall: TL-CNN (95.3%).  Best traditional: Random Forest (91.9%).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Comparison with the Stanford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44137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Stanford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Our reproduction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Images (train / dev / 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7,000 / 3,000 /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1,786 / 766 / 1,277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Class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≈16% ship (natural)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67% ship (ship-enriched subset)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Best traditional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Random Forest, 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Random Forest, 91.9%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TL-CNN 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95.3%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SIM-CNN 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88.0%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Hardware /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Azure GPU, Keras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Laptop CPU, PyTorch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600" b="0">
                <a:solidFill>
                  <a:srgbClr val="444444"/>
                </a:solidFill>
              </a:defRPr>
            </a:pPr>
            <a:r>
              <a:t>•  Same conclusions for traditional models: Random Forest wins, feature engineering helps, Naive Bayes is fragile</a:t>
            </a:r>
          </a:p>
          <a:p>
            <a:pPr>
              <a:spcAft>
                <a:spcPts val="720"/>
              </a:spcAft>
              <a:defRPr sz="1600" b="0">
                <a:solidFill>
                  <a:srgbClr val="444444"/>
                </a:solidFill>
              </a:defRPr>
            </a:pPr>
            <a:r>
              <a:t>•  CNN ranking differs: TL-CNN beat SIM-CNN here, probably because we had about 4× less training data</a:t>
            </a:r>
          </a:p>
          <a:p>
            <a:pPr>
              <a:spcAft>
                <a:spcPts val="720"/>
              </a:spcAft>
              <a:defRPr sz="1600" b="0">
                <a:solidFill>
                  <a:srgbClr val="444444"/>
                </a:solidFill>
              </a:defRPr>
            </a:pPr>
            <a:r>
              <a:t>•  Absolute numbers are not directly comparable – different subset and class balance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Conclusions, limitations,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Random Forest on hand-engineered features is a strong, cheap baseline (91.9%)</a:t>
            </a:r>
          </a:p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CNNs: TL-CNN (95.3%) scored higher than SIM-CNN (88.0%) on our test set</a:t>
            </a:r>
          </a:p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Feature choice matters as much as the algorithm; more features can hurt</a:t>
            </a:r>
          </a:p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Limitations: small ship-enriched subset, CPU-only, one run per model, image-level labels only</a:t>
            </a:r>
          </a:p>
          <a:p>
            <a:pPr>
              <a:spcAft>
                <a:spcPts val="900"/>
              </a:spcAft>
              <a:defRPr sz="2000" b="0">
                <a:solidFill>
                  <a:srgbClr val="444444"/>
                </a:solidFill>
              </a:defRPr>
            </a:pPr>
            <a:r>
              <a:t>•  Future work: full dataset, fine-tune the DenseNet backbone, segment/localise ships (U-Net)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  <a:defRPr sz="3200" b="1">
                <a:solidFill>
                  <a:srgbClr val="0B3D6B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45720"/>
          </a:xfrm>
          <a:prstGeom prst="rect">
            <a:avLst/>
          </a:prstGeom>
          <a:solidFill>
            <a:srgbClr val="0B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5"/>
              </a:spcAft>
              <a:defRPr sz="1100" b="0">
                <a:solidFill>
                  <a:srgbClr val="444444"/>
                </a:solidFill>
              </a:defRPr>
            </a:pPr>
            <a:r>
              <a:t>Team 9  |  Project No. 35   ·   Airbus Ship Detection   · 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5"/>
              </a:spcAft>
              <a:defRPr sz="1700" b="0">
                <a:solidFill>
                  <a:srgbClr val="444444"/>
                </a:solidFill>
              </a:defRPr>
            </a:pPr>
            <a:r>
              <a:t>•  python -m src.demo                     → 8 random unseen test images</a:t>
            </a:r>
          </a:p>
          <a:p>
            <a:pPr>
              <a:spcAft>
                <a:spcPts val="765"/>
              </a:spcAft>
              <a:defRPr sz="1700" b="0">
                <a:solidFill>
                  <a:srgbClr val="444444"/>
                </a:solidFill>
              </a:defRPr>
            </a:pPr>
            <a:r>
              <a:t>•  python -m src.demo --n 12 --seed 7     → a different selection</a:t>
            </a:r>
          </a:p>
          <a:p>
            <a:pPr>
              <a:spcAft>
                <a:spcPts val="765"/>
              </a:spcAft>
              <a:defRPr sz="1700" b="0">
                <a:solidFill>
                  <a:srgbClr val="444444"/>
                </a:solidFill>
              </a:defRPr>
            </a:pPr>
            <a:r>
              <a:t>•  python -m src.demo --image my.jpg      → any image</a:t>
            </a:r>
          </a:p>
          <a:p>
            <a:pPr>
              <a:spcAft>
                <a:spcPts val="765"/>
              </a:spcAft>
              <a:defRPr sz="1700" b="0">
                <a:solidFill>
                  <a:srgbClr val="444444"/>
                </a:solidFill>
              </a:defRPr>
            </a:pPr>
            <a:r>
              <a:t>•  Prints P(ship) from Random Forest, TL-CNN and SIM-CNN; shows the images with the verdict</a:t>
            </a:r>
          </a:p>
        </p:txBody>
      </p:sp>
      <p:pic>
        <p:nvPicPr>
          <p:cNvPr id="6" name="Picture 5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394960" cy="29354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