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4400" b="1">
                <a:solidFill>
                  <a:srgbClr val="000000"/>
                </a:solidFill>
                <a:latin typeface="Calibri"/>
              </a:defRPr>
            </a:pPr>
            <a:r>
              <a:t>Airbus Ship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017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000000"/>
                </a:solidFill>
                <a:latin typeface="Calibri"/>
              </a:defRPr>
            </a:pPr>
            <a:r>
              <a:t>Traditional Machine Learning vs. Convolutional Neural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UE24CS352A – Machine Learning  |  Mini-Project</a:t>
            </a:r>
          </a:p>
          <a:p>
            <a:pPr>
              <a:spcAft>
                <a:spcPts val="9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Team 9  |  Project No. 35</a:t>
            </a:r>
          </a:p>
          <a:p>
            <a:pPr>
              <a:spcAft>
                <a:spcPts val="9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Rohan Suresh (PES1UG24CS383)  ·  Satvik L (PES1UG24CS423)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000000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200" b="0">
                <a:solidFill>
                  <a:srgbClr val="000000"/>
                </a:solidFill>
                <a:latin typeface="Calibri"/>
              </a:defRPr>
            </a:pPr>
            <a:r>
              <a:t>•  Given a satellite image, decide whether it contains at least one ship (binary classification)</a:t>
            </a:r>
          </a:p>
          <a:p>
            <a:pPr>
              <a:spcAft>
                <a:spcPts val="1100"/>
              </a:spcAft>
              <a:defRPr sz="2200" b="0">
                <a:solidFill>
                  <a:srgbClr val="000000"/>
                </a:solidFill>
                <a:latin typeface="Calibri"/>
              </a:defRPr>
            </a:pPr>
            <a:r>
              <a:t>•  Compare classical models on hand-engineered features with CNNs that learn features from pixels</a:t>
            </a:r>
          </a:p>
          <a:p>
            <a:pPr>
              <a:spcAft>
                <a:spcPts val="1100"/>
              </a:spcAft>
              <a:defRPr sz="2200" b="0">
                <a:solidFill>
                  <a:srgbClr val="000000"/>
                </a:solidFill>
                <a:latin typeface="Calibri"/>
              </a:defRPr>
            </a:pPr>
            <a:r>
              <a:t>•  Reproduces a Stanford CS229 project (Chen, Zheng, Zhou, 2018)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000000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200" b="0">
                <a:solidFill>
                  <a:srgbClr val="000000"/>
                </a:solidFill>
                <a:latin typeface="Calibri"/>
              </a:defRPr>
            </a:pPr>
            <a:r>
              <a:t>•  Kaggle Airbus Ship Detection Challenge: 192,555 satellite images (768×768), 31 GB</a:t>
            </a:r>
          </a:p>
          <a:p>
            <a:pPr>
              <a:spcAft>
                <a:spcPts val="1100"/>
              </a:spcAft>
              <a:defRPr sz="2200" b="0">
                <a:solidFill>
                  <a:srgbClr val="000000"/>
                </a:solidFill>
                <a:latin typeface="Calibri"/>
              </a:defRPr>
            </a:pPr>
            <a:r>
              <a:t>•  Labels from the official mask CSV: at least one ship mask = Ship, otherwise No ship</a:t>
            </a:r>
          </a:p>
          <a:p>
            <a:pPr>
              <a:spcAft>
                <a:spcPts val="1100"/>
              </a:spcAft>
              <a:defRPr sz="2200" b="0">
                <a:solidFill>
                  <a:srgbClr val="000000"/>
                </a:solidFill>
                <a:latin typeface="Calibri"/>
              </a:defRPr>
            </a:pPr>
            <a:r>
              <a:t>•  Our subset: 3,829 images, resized to 256×256</a:t>
            </a:r>
          </a:p>
          <a:p>
            <a:pPr>
              <a:spcAft>
                <a:spcPts val="1100"/>
              </a:spcAft>
              <a:defRPr sz="2200" b="0">
                <a:solidFill>
                  <a:srgbClr val="000000"/>
                </a:solidFill>
                <a:latin typeface="Calibri"/>
              </a:defRPr>
            </a:pPr>
            <a:r>
              <a:t>•  67.2% Ship / 32.8% No ship</a:t>
            </a:r>
          </a:p>
          <a:p>
            <a:pPr>
              <a:spcAft>
                <a:spcPts val="1100"/>
              </a:spcAft>
              <a:defRPr sz="2200" b="0">
                <a:solidFill>
                  <a:srgbClr val="000000"/>
                </a:solidFill>
                <a:latin typeface="Calibri"/>
              </a:defRPr>
            </a:pPr>
            <a:r>
              <a:t>•  Stratified 7:3:5 split: 1,786 train / 766 dev / 1,277 test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000000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  <a:defRPr sz="2100" b="0">
                <a:solidFill>
                  <a:srgbClr val="000000"/>
                </a:solidFill>
                <a:latin typeface="Calibri"/>
              </a:defRPr>
            </a:pPr>
            <a:r>
              <a:t>•  Hand-engineered features: colour histogram (512), Haralick texture (13), Hu moments (7)</a:t>
            </a:r>
          </a:p>
          <a:p>
            <a:pPr>
              <a:spcAft>
                <a:spcPts val="1050"/>
              </a:spcAft>
              <a:defRPr sz="2100" b="0">
                <a:solidFill>
                  <a:srgbClr val="000000"/>
                </a:solidFill>
                <a:latin typeface="Calibri"/>
              </a:defRPr>
            </a:pPr>
            <a:r>
              <a:t>•  Classical models: LDA, k-NN (k = 5), Naive Bayes, Random Forest (70 trees), SVM (RBF)</a:t>
            </a:r>
          </a:p>
          <a:p>
            <a:pPr>
              <a:spcAft>
                <a:spcPts val="1050"/>
              </a:spcAft>
              <a:defRPr sz="2100" b="0">
                <a:solidFill>
                  <a:srgbClr val="000000"/>
                </a:solidFill>
                <a:latin typeface="Calibri"/>
              </a:defRPr>
            </a:pPr>
            <a:r>
              <a:t>•  SIM-CNN: 4 conv + max-pool layers, FC(128), FC(1); 4,292,001 parameters, trained from scratch</a:t>
            </a:r>
          </a:p>
          <a:p>
            <a:pPr>
              <a:spcAft>
                <a:spcPts val="1050"/>
              </a:spcAft>
              <a:defRPr sz="2100" b="0">
                <a:solidFill>
                  <a:srgbClr val="000000"/>
                </a:solidFill>
                <a:latin typeface="Calibri"/>
              </a:defRPr>
            </a:pPr>
            <a:r>
              <a:t>•  TL-CNN: frozen ImageNet DenseNet-169 + small classifier head; 216,577 trained parameters</a:t>
            </a:r>
          </a:p>
          <a:p>
            <a:pPr>
              <a:spcAft>
                <a:spcPts val="1050"/>
              </a:spcAft>
              <a:defRPr sz="2100" b="0">
                <a:solidFill>
                  <a:srgbClr val="000000"/>
                </a:solidFill>
                <a:latin typeface="Calibri"/>
              </a:defRPr>
            </a:pPr>
            <a:r>
              <a:t>•  CNN training: binary cross-entropy, Adam, batch 64, 30 epochs, best dev-loss checkpoint</a:t>
            </a:r>
          </a:p>
          <a:p>
            <a:pPr>
              <a:spcAft>
                <a:spcPts val="1050"/>
              </a:spcAft>
              <a:defRPr sz="2100" b="0">
                <a:solidFill>
                  <a:srgbClr val="000000"/>
                </a:solidFill>
                <a:latin typeface="Calibri"/>
              </a:defRPr>
            </a:pPr>
            <a:r>
              <a:t>•  Decision threshold chosen on the dev set; final scores on the untouched test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000000"/>
                </a:solidFill>
                <a:latin typeface="Calibri"/>
              </a:defRPr>
            </a:pPr>
            <a:r>
              <a:t>Results – classical models (test accuracy)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211580"/>
                <a:gridCol w="1211580"/>
                <a:gridCol w="1211580"/>
                <a:gridCol w="1211580"/>
                <a:gridCol w="1211580"/>
                <a:gridCol w="1211580"/>
                <a:gridCol w="1211580"/>
                <a:gridCol w="121158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His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Hu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His+Ha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Ha+Hu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Hu+His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All three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Raw pixels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LDA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0.748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0.784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0.683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0.849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0.785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0.756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0.854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0.537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KNN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0.785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0.829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0.674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0.838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0.825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0.795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0.839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0.735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NB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0.526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0.734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0.672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0.525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0.676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0.531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0.532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0.625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RF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0.915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0.854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0.733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0.918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0.854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0.913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0.919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0.822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SVM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0.761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0.832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0.680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0.848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0.825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0.762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0.850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0.808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000000"/>
                </a:solidFill>
                <a:latin typeface="Calibri"/>
              </a:defRPr>
            </a:pPr>
            <a:r>
              <a:t>Results – all models (test set)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1554480"/>
                <a:gridCol w="1554480"/>
                <a:gridCol w="1554480"/>
                <a:gridCol w="1554480"/>
                <a:gridCol w="1554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LDA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85.4%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87.0%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92.0%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71.8%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89.4%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k-NN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83.9%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85.6%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91.4%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68.5%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88.4%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Naive Bayes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53.2%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91.4%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33.4%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93.6%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49.0%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91.9%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93.2%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94.9%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85.9%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94.0%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SVM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85.0%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84.3%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95.5%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63.7%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89.6%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TL-CNN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95.3%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96.3%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96.7%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92.4%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96.5%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SIM-CNN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88.0%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91.1%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81.9%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91.1%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Always 'Ship' (baseline)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67.2%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67.2%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80.4%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000000"/>
                </a:solidFill>
                <a:latin typeface="Calibri"/>
              </a:defRPr>
            </a:pPr>
            <a:r>
              <a:t>Comparison with the Stanford report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Stanford report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Our project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Images (train / dev / test)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7,000 / 3,000 / 5,000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1,786 / 766 / 1,277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Best classical model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Random Forest, 93%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Random Forest, 91.9%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TL-CNN accuracy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95.3%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SIM-CNN accuracy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94%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88.0%</a:t>
                      </a:r>
                    </a:p>
                  </a:txBody>
                  <a:tcPr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